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66" r:id="rId3"/>
    <p:sldId id="267" r:id="rId4"/>
    <p:sldId id="259" r:id="rId5"/>
    <p:sldId id="260" r:id="rId6"/>
    <p:sldId id="261" r:id="rId7"/>
    <p:sldId id="262" r:id="rId8"/>
    <p:sldId id="264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84" autoAdjust="0"/>
  </p:normalViewPr>
  <p:slideViewPr>
    <p:cSldViewPr snapToGrid="0" snapToObjects="1">
      <p:cViewPr>
        <p:scale>
          <a:sx n="50" d="100"/>
          <a:sy n="50" d="100"/>
        </p:scale>
        <p:origin x="1188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46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E432-EB39-3525-FC51-336C1AE2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3946A-9504-4E28-0A94-1D5A8B303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29450-C32B-8000-032C-CABB6C794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E3858-7041-DF8F-0A68-FC04B1081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094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12D29-C580-659D-9AD2-1FCB873D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D3EB6-673F-CC43-4EC1-FB7FA9FBB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450AE-41D9-FF30-6CCF-426F6C7C88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F15C0-9F39-B41B-32D6-57199F2DA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911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2027-4A3B-78B4-F068-C1FD0C4E2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40627-848F-A085-5565-C5D1133FC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294DD-7D05-9182-7232-843140B0F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24593-7B59-11F4-3A74-8A3F8DB0F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296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M4mzcXyQHc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3B39DB-4C3C-0BB2-9644-2B8DA49E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64851-FE94-75FD-8697-E587B1DC0DB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9429D1-4D73-7CE6-ADA9-F8FBBFB185AB}"/>
              </a:ext>
            </a:extLst>
          </p:cNvPr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9D0247-D31B-CD2F-99B3-F789269D6841}"/>
              </a:ext>
            </a:extLst>
          </p:cNvPr>
          <p:cNvSpPr/>
          <p:nvPr/>
        </p:nvSpPr>
        <p:spPr>
          <a:xfrm>
            <a:off x="0" y="0"/>
            <a:ext cx="4572000" cy="128016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28CAD-327E-6479-683B-F4BDB2ABB5D5}"/>
              </a:ext>
            </a:extLst>
          </p:cNvPr>
          <p:cNvSpPr/>
          <p:nvPr/>
        </p:nvSpPr>
        <p:spPr>
          <a:xfrm>
            <a:off x="0" y="6729984"/>
            <a:ext cx="4572000" cy="128016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139FC9-4D4A-280F-7A77-F1B0D017A904}"/>
              </a:ext>
            </a:extLst>
          </p:cNvPr>
          <p:cNvSpPr/>
          <p:nvPr/>
        </p:nvSpPr>
        <p:spPr>
          <a:xfrm rot="10800000">
            <a:off x="9601200" y="0"/>
            <a:ext cx="2590495" cy="1463040"/>
          </a:xfrm>
          <a:prstGeom prst="rtTriangl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F7E36-39AC-10E6-6DF6-434D011A4235}"/>
              </a:ext>
            </a:extLst>
          </p:cNvPr>
          <p:cNvSpPr txBox="1"/>
          <p:nvPr/>
        </p:nvSpPr>
        <p:spPr>
          <a:xfrm>
            <a:off x="4846320" y="914400"/>
            <a:ext cx="704088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1A1A1A"/>
                </a:solidFill>
                <a:latin typeface="Calibri"/>
              </a:defRPr>
            </a:pPr>
            <a:r>
              <a:rPr sz="2800" b="1" dirty="0">
                <a:solidFill>
                  <a:srgbClr val="1A1A1A"/>
                </a:solidFill>
                <a:latin typeface="Calibri"/>
              </a:rPr>
              <a:t>Precision Retail Marketing Analytics: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2400" b="1">
                <a:solidFill>
                  <a:srgbClr val="0058A3"/>
                </a:solidFill>
                <a:latin typeface="Calibri"/>
              </a:defRPr>
            </a:pPr>
            <a:r>
              <a:rPr sz="2400" b="1" dirty="0">
                <a:solidFill>
                  <a:srgbClr val="0058A3"/>
                </a:solidFill>
                <a:latin typeface="Calibri"/>
              </a:rPr>
              <a:t>Restoring Omnichannel Profitability for IKEA India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444444"/>
                </a:solidFill>
                <a:latin typeface="Calibri"/>
              </a:defRPr>
            </a:pPr>
            <a:r>
              <a:rPr lang="en-IN" sz="1400" b="0" dirty="0">
                <a:solidFill>
                  <a:srgbClr val="444444"/>
                </a:solidFill>
                <a:latin typeface="Calibri"/>
              </a:rPr>
              <a:t>A</a:t>
            </a:r>
            <a:r>
              <a:rPr sz="1400" b="0" dirty="0">
                <a:solidFill>
                  <a:srgbClr val="444444"/>
                </a:solidFill>
                <a:latin typeface="Calibri"/>
              </a:rPr>
              <a:t>ddressing CAC inflation, small-basket delivery deficits, and flatpack assembly friction via Marketing Mix Modelling, Apriori Basket Mining, and Strategic Perceptual Repositioning.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CDE86B4-B929-E02F-ADB3-32263B3FDC67}"/>
              </a:ext>
            </a:extLst>
          </p:cNvPr>
          <p:cNvSpPr/>
          <p:nvPr/>
        </p:nvSpPr>
        <p:spPr>
          <a:xfrm>
            <a:off x="4836488" y="3598601"/>
            <a:ext cx="2267712" cy="2095778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7530CC-CBD2-8C92-C5A7-E72A6FE65B4C}"/>
              </a:ext>
            </a:extLst>
          </p:cNvPr>
          <p:cNvSpPr txBox="1"/>
          <p:nvPr/>
        </p:nvSpPr>
        <p:spPr>
          <a:xfrm>
            <a:off x="4946216" y="3827201"/>
            <a:ext cx="2048256" cy="1867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0058A3"/>
                </a:solidFill>
                <a:latin typeface="Calibri"/>
              </a:defRPr>
            </a:pPr>
            <a:r>
              <a:rPr sz="1400" b="1" dirty="0">
                <a:solidFill>
                  <a:srgbClr val="0058A3"/>
                </a:solidFill>
                <a:latin typeface="Calibri"/>
              </a:rPr>
              <a:t>PILLAR 1 — MARKETING MIX MODELLING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44444"/>
                </a:solidFill>
                <a:latin typeface="Calibri"/>
              </a:defRPr>
            </a:pPr>
            <a:r>
              <a:rPr sz="1400" b="0" dirty="0">
                <a:solidFill>
                  <a:srgbClr val="444444"/>
                </a:solidFill>
                <a:latin typeface="Calibri"/>
              </a:rPr>
              <a:t>Shift ₹7.0 Cr from saturated Meta/Search to WhatsApp &amp; Video. Delivers +₹14.99 Cr Net Gain (+13.5% lift) at ₹0 extra budget.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77BC63F-8ED8-D109-77A3-476AFA28C652}"/>
              </a:ext>
            </a:extLst>
          </p:cNvPr>
          <p:cNvSpPr/>
          <p:nvPr/>
        </p:nvSpPr>
        <p:spPr>
          <a:xfrm>
            <a:off x="7213928" y="3598601"/>
            <a:ext cx="2267712" cy="2095778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696419-53E5-BDD2-736E-D41F39BE8F64}"/>
              </a:ext>
            </a:extLst>
          </p:cNvPr>
          <p:cNvSpPr txBox="1"/>
          <p:nvPr/>
        </p:nvSpPr>
        <p:spPr>
          <a:xfrm>
            <a:off x="7323656" y="3827201"/>
            <a:ext cx="2048256" cy="165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1A1A1A"/>
                </a:solidFill>
                <a:latin typeface="Calibri"/>
              </a:defRPr>
            </a:pPr>
            <a:r>
              <a:rPr sz="1400" b="1" dirty="0">
                <a:solidFill>
                  <a:srgbClr val="1A1A1A"/>
                </a:solidFill>
                <a:latin typeface="Calibri"/>
              </a:rPr>
              <a:t>PILLAR 2 — MARKET BASKET ANALYSIS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44444"/>
                </a:solidFill>
                <a:latin typeface="Calibri"/>
              </a:defRPr>
            </a:pPr>
            <a:r>
              <a:rPr sz="1400" b="0" dirty="0">
                <a:solidFill>
                  <a:srgbClr val="444444"/>
                </a:solidFill>
                <a:latin typeface="Calibri"/>
              </a:rPr>
              <a:t>Mine 1,222 transactions using 2-Stage Apriori. Converts single carts into room suites, lifting AOV from ₹4,200 to ₹5,100+.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C07FD89-82E0-9489-B5D0-5C22A9ABEF5B}"/>
              </a:ext>
            </a:extLst>
          </p:cNvPr>
          <p:cNvSpPr/>
          <p:nvPr/>
        </p:nvSpPr>
        <p:spPr>
          <a:xfrm>
            <a:off x="9591368" y="3598601"/>
            <a:ext cx="2267712" cy="2095778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BECE111-05FF-2FF8-B183-0A05291B50A9}"/>
              </a:ext>
            </a:extLst>
          </p:cNvPr>
          <p:cNvGrpSpPr/>
          <p:nvPr/>
        </p:nvGrpSpPr>
        <p:grpSpPr>
          <a:xfrm>
            <a:off x="4836488" y="3461441"/>
            <a:ext cx="7040880" cy="301752"/>
            <a:chOff x="4846320" y="3520440"/>
            <a:chExt cx="7040880" cy="30175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C2A7C9-9F62-5C43-006C-C979FE37AD50}"/>
                </a:ext>
              </a:extLst>
            </p:cNvPr>
            <p:cNvSpPr/>
            <p:nvPr/>
          </p:nvSpPr>
          <p:spPr>
            <a:xfrm>
              <a:off x="4846320" y="3520440"/>
              <a:ext cx="7040880" cy="54864"/>
            </a:xfrm>
            <a:prstGeom prst="rect">
              <a:avLst/>
            </a:prstGeom>
            <a:solidFill>
              <a:srgbClr val="FFD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F6DDEA9-786D-126B-80CE-B2A57BB5E493}"/>
                </a:ext>
              </a:extLst>
            </p:cNvPr>
            <p:cNvSpPr/>
            <p:nvPr/>
          </p:nvSpPr>
          <p:spPr>
            <a:xfrm>
              <a:off x="4846320" y="3657600"/>
              <a:ext cx="2267712" cy="164592"/>
            </a:xfrm>
            <a:prstGeom prst="rect">
              <a:avLst/>
            </a:prstGeom>
            <a:solidFill>
              <a:srgbClr val="0058A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8342B4C-9B3B-10AD-FA35-52AD19C10F0F}"/>
                </a:ext>
              </a:extLst>
            </p:cNvPr>
            <p:cNvSpPr/>
            <p:nvPr/>
          </p:nvSpPr>
          <p:spPr>
            <a:xfrm>
              <a:off x="7223760" y="3657600"/>
              <a:ext cx="2267712" cy="164592"/>
            </a:xfrm>
            <a:prstGeom prst="rect">
              <a:avLst/>
            </a:prstGeom>
            <a:solidFill>
              <a:srgbClr val="FFD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1CCE6A9-680D-90CD-FADB-F7DE5A0949CB}"/>
                </a:ext>
              </a:extLst>
            </p:cNvPr>
            <p:cNvSpPr/>
            <p:nvPr/>
          </p:nvSpPr>
          <p:spPr>
            <a:xfrm>
              <a:off x="9601200" y="3657600"/>
              <a:ext cx="2267712" cy="164592"/>
            </a:xfrm>
            <a:prstGeom prst="rect">
              <a:avLst/>
            </a:prstGeom>
            <a:solidFill>
              <a:srgbClr val="0058A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D287C1B-3C49-2CCF-4823-B948996D3F08}"/>
              </a:ext>
            </a:extLst>
          </p:cNvPr>
          <p:cNvSpPr txBox="1"/>
          <p:nvPr/>
        </p:nvSpPr>
        <p:spPr>
          <a:xfrm>
            <a:off x="9701096" y="3827201"/>
            <a:ext cx="2048256" cy="1867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>
                <a:solidFill>
                  <a:srgbClr val="0058A3"/>
                </a:solidFill>
                <a:latin typeface="Calibri"/>
              </a:defRPr>
            </a:pPr>
            <a:r>
              <a:rPr sz="1400" b="1" dirty="0">
                <a:solidFill>
                  <a:srgbClr val="0058A3"/>
                </a:solidFill>
                <a:latin typeface="Calibri"/>
              </a:rPr>
              <a:t>PILLAR 3 — STRATEGIC REPOSITIONING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44444"/>
                </a:solidFill>
                <a:latin typeface="Calibri"/>
              </a:defRPr>
            </a:pPr>
            <a:r>
              <a:rPr sz="1400" b="0" dirty="0">
                <a:solidFill>
                  <a:srgbClr val="444444"/>
                </a:solidFill>
                <a:latin typeface="Calibri"/>
              </a:rPr>
              <a:t>Construct PCA perceptual map (N=450). Isolates vacant 'Affordable Turnkey' whitespace, bridging cultural resistance to DIY.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7935D2-E5E1-24A0-2C55-0A320D1DA45F}"/>
              </a:ext>
            </a:extLst>
          </p:cNvPr>
          <p:cNvSpPr txBox="1"/>
          <p:nvPr/>
        </p:nvSpPr>
        <p:spPr>
          <a:xfrm>
            <a:off x="11612880" y="65653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58A3"/>
                </a:solidFill>
                <a:latin typeface="Calibri"/>
              </a:defRPr>
            </a:pPr>
            <a:r>
              <a:t>1</a:t>
            </a:r>
          </a:p>
        </p:txBody>
      </p:sp>
      <p:pic>
        <p:nvPicPr>
          <p:cNvPr id="1026" name="Picture 2" descr="Animated IKEA Video - Prezlab">
            <a:extLst>
              <a:ext uri="{FF2B5EF4-FFF2-40B4-BE49-F238E27FC236}">
                <a16:creationId xmlns:a16="http://schemas.microsoft.com/office/drawing/2014/main" id="{24E9529C-0237-099A-3718-AE7E97E69E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55" t="18421" r="-2084" b="20097"/>
          <a:stretch>
            <a:fillRect/>
          </a:stretch>
        </p:blipFill>
        <p:spPr bwMode="auto">
          <a:xfrm>
            <a:off x="-136816" y="2629081"/>
            <a:ext cx="4841060" cy="2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531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781321-2193-2949-5E53-BB11380C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45C5EF-FF3F-423A-4302-5C179301666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9F8763-184E-3C79-859C-B0717DB234E9}"/>
              </a:ext>
            </a:extLst>
          </p:cNvPr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290942-A255-2276-2980-E91D70BCCCE8}"/>
              </a:ext>
            </a:extLst>
          </p:cNvPr>
          <p:cNvSpPr/>
          <p:nvPr/>
        </p:nvSpPr>
        <p:spPr>
          <a:xfrm>
            <a:off x="0" y="0"/>
            <a:ext cx="64008" cy="1188720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FF5BF-B193-7F87-4D40-D8F31377BA50}"/>
              </a:ext>
            </a:extLst>
          </p:cNvPr>
          <p:cNvSpPr txBox="1"/>
          <p:nvPr/>
        </p:nvSpPr>
        <p:spPr>
          <a:xfrm>
            <a:off x="274320" y="7315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DA00"/>
                </a:solidFill>
                <a:latin typeface="Calibri"/>
              </a:defRPr>
            </a:pPr>
            <a:r>
              <a:t>1. STRATEGIC DIAGNOSTIC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ED451-A868-6096-DC81-0E16A187D214}"/>
              </a:ext>
            </a:extLst>
          </p:cNvPr>
          <p:cNvSpPr txBox="1"/>
          <p:nvPr/>
        </p:nvSpPr>
        <p:spPr>
          <a:xfrm>
            <a:off x="274320" y="329184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IKEA India's Tri-Fold Profitability Crisis Demands Immediate Analytical Intervention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38E80-92CD-665D-C089-3309B44C960A}"/>
              </a:ext>
            </a:extLst>
          </p:cNvPr>
          <p:cNvSpPr txBox="1"/>
          <p:nvPr/>
        </p:nvSpPr>
        <p:spPr>
          <a:xfrm>
            <a:off x="274320" y="1207008"/>
            <a:ext cx="11612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rPr sz="1100" b="1" dirty="0"/>
              <a:t>Omnichannel expansion exposed IKEA to digital CAC inflation, low-ticket freight drag, and cultural resistance to self-assembly.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E7B32B-F70C-BEEB-182E-DFF6CEF35D3F}"/>
              </a:ext>
            </a:extLst>
          </p:cNvPr>
          <p:cNvSpPr/>
          <p:nvPr/>
        </p:nvSpPr>
        <p:spPr>
          <a:xfrm>
            <a:off x="274320" y="1536192"/>
            <a:ext cx="2194560" cy="1143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1386EF-D946-3C12-F075-975997E3DE27}"/>
              </a:ext>
            </a:extLst>
          </p:cNvPr>
          <p:cNvSpPr txBox="1"/>
          <p:nvPr/>
        </p:nvSpPr>
        <p:spPr>
          <a:xfrm>
            <a:off x="384048" y="1591056"/>
            <a:ext cx="1975104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888888"/>
                </a:solidFill>
                <a:latin typeface="Calibri"/>
              </a:defRPr>
            </a:pPr>
            <a:r>
              <a:rPr sz="1200" dirty="0">
                <a:solidFill>
                  <a:srgbClr val="888888"/>
                </a:solidFill>
                <a:latin typeface="Calibri"/>
              </a:rPr>
              <a:t>ANNUAL REVENUE (FY24)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0058A3"/>
                </a:solidFill>
                <a:latin typeface="Calibri"/>
              </a:defRPr>
            </a:pPr>
            <a:r>
              <a:rPr dirty="0">
                <a:solidFill>
                  <a:srgbClr val="0058A3"/>
                </a:solidFill>
                <a:latin typeface="Calibri"/>
              </a:rPr>
              <a:t>₹1,809.8 Cr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400" dirty="0">
                <a:solidFill>
                  <a:srgbClr val="444444"/>
                </a:solidFill>
                <a:latin typeface="Calibri"/>
              </a:rPr>
              <a:t>+4.5% YoY (Growth Slower)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A5A67C9-9931-274F-6578-FFB53ACE155C}"/>
              </a:ext>
            </a:extLst>
          </p:cNvPr>
          <p:cNvSpPr/>
          <p:nvPr/>
        </p:nvSpPr>
        <p:spPr>
          <a:xfrm>
            <a:off x="2606039" y="1536192"/>
            <a:ext cx="2194560" cy="1143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A29CA-6114-BD12-FB61-0E149DBF8FCA}"/>
              </a:ext>
            </a:extLst>
          </p:cNvPr>
          <p:cNvSpPr txBox="1"/>
          <p:nvPr/>
        </p:nvSpPr>
        <p:spPr>
          <a:xfrm>
            <a:off x="2715768" y="1591056"/>
            <a:ext cx="1975104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888888"/>
                </a:solidFill>
                <a:latin typeface="Calibri"/>
              </a:defRPr>
            </a:pPr>
            <a:r>
              <a:rPr sz="1400" b="1" dirty="0">
                <a:solidFill>
                  <a:srgbClr val="888888"/>
                </a:solidFill>
                <a:latin typeface="Calibri"/>
              </a:rPr>
              <a:t>NET OPERATING LOSS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C0392B"/>
                </a:solidFill>
                <a:latin typeface="Calibri"/>
              </a:defRPr>
            </a:pPr>
            <a:r>
              <a:rPr sz="1400" b="1" dirty="0">
                <a:solidFill>
                  <a:srgbClr val="C0392B"/>
                </a:solidFill>
                <a:latin typeface="Calibri"/>
              </a:rPr>
              <a:t>₹1,299.4 Cr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400" b="0" dirty="0">
                <a:solidFill>
                  <a:srgbClr val="444444"/>
                </a:solidFill>
                <a:latin typeface="Calibri"/>
              </a:rPr>
              <a:t>Widened Operating Deficit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AB789C5-55E8-5551-B76E-44AD270CA1BC}"/>
              </a:ext>
            </a:extLst>
          </p:cNvPr>
          <p:cNvSpPr/>
          <p:nvPr/>
        </p:nvSpPr>
        <p:spPr>
          <a:xfrm>
            <a:off x="4937759" y="1536192"/>
            <a:ext cx="2194560" cy="1143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0686F-9E8E-D220-B929-C73344C84BD4}"/>
              </a:ext>
            </a:extLst>
          </p:cNvPr>
          <p:cNvSpPr txBox="1"/>
          <p:nvPr/>
        </p:nvSpPr>
        <p:spPr>
          <a:xfrm>
            <a:off x="5047488" y="1591056"/>
            <a:ext cx="1975104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888888"/>
                </a:solidFill>
                <a:latin typeface="Calibri"/>
              </a:defRPr>
            </a:pPr>
            <a:r>
              <a:rPr sz="1400" b="1" dirty="0">
                <a:solidFill>
                  <a:srgbClr val="888888"/>
                </a:solidFill>
                <a:latin typeface="Calibri"/>
              </a:rPr>
              <a:t>ANNUAL MEDIA SPEND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rPr sz="1400" b="1" dirty="0">
                <a:solidFill>
                  <a:srgbClr val="1A1A1A"/>
                </a:solidFill>
                <a:latin typeface="Calibri"/>
              </a:rPr>
              <a:t>₹196.3 Cr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400" b="0" dirty="0">
                <a:solidFill>
                  <a:srgbClr val="444444"/>
                </a:solidFill>
                <a:latin typeface="Calibri"/>
              </a:rPr>
              <a:t>~₹3.77 Cr Weekly Run-Rate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3EF7D26-DF24-6A1F-8E63-EDE41543120A}"/>
              </a:ext>
            </a:extLst>
          </p:cNvPr>
          <p:cNvSpPr/>
          <p:nvPr/>
        </p:nvSpPr>
        <p:spPr>
          <a:xfrm>
            <a:off x="7269479" y="1536192"/>
            <a:ext cx="2194560" cy="1143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56829-A808-F317-760B-84FC6C20E0BA}"/>
              </a:ext>
            </a:extLst>
          </p:cNvPr>
          <p:cNvSpPr txBox="1"/>
          <p:nvPr/>
        </p:nvSpPr>
        <p:spPr>
          <a:xfrm>
            <a:off x="7379207" y="1591056"/>
            <a:ext cx="1975104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888888"/>
                </a:solidFill>
                <a:latin typeface="Calibri"/>
              </a:defRPr>
            </a:pPr>
            <a:r>
              <a:rPr sz="1400" b="1">
                <a:solidFill>
                  <a:srgbClr val="888888"/>
                </a:solidFill>
                <a:latin typeface="Calibri"/>
              </a:rPr>
              <a:t>ONLINE BASKET (AOV)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rPr sz="1400" b="1">
                <a:solidFill>
                  <a:srgbClr val="1A1A1A"/>
                </a:solidFill>
                <a:latin typeface="Calibri"/>
              </a:rPr>
              <a:t>₹4,200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400" b="0">
                <a:solidFill>
                  <a:srgbClr val="444444"/>
                </a:solidFill>
                <a:latin typeface="Calibri"/>
              </a:rPr>
              <a:t>35.7% Single-Item Orders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1A9E55D-F6D1-C9A7-E27A-27844561D3DB}"/>
              </a:ext>
            </a:extLst>
          </p:cNvPr>
          <p:cNvSpPr/>
          <p:nvPr/>
        </p:nvSpPr>
        <p:spPr>
          <a:xfrm>
            <a:off x="9601200" y="1536192"/>
            <a:ext cx="2194560" cy="1143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B6CFD-8190-C464-C01C-59EFC56C8680}"/>
              </a:ext>
            </a:extLst>
          </p:cNvPr>
          <p:cNvSpPr txBox="1"/>
          <p:nvPr/>
        </p:nvSpPr>
        <p:spPr>
          <a:xfrm>
            <a:off x="9710928" y="1591056"/>
            <a:ext cx="1975104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750" b="1">
                <a:solidFill>
                  <a:srgbClr val="888888"/>
                </a:solidFill>
                <a:latin typeface="Calibri"/>
              </a:defRPr>
            </a:pPr>
            <a:r>
              <a:rPr sz="1400" b="1">
                <a:solidFill>
                  <a:srgbClr val="888888"/>
                </a:solidFill>
                <a:latin typeface="Calibri"/>
              </a:rPr>
              <a:t>LAST-MILE FREIGHT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500" b="1">
                <a:solidFill>
                  <a:srgbClr val="C0392B"/>
                </a:solidFill>
                <a:latin typeface="Calibri"/>
              </a:defRPr>
            </a:pPr>
            <a:r>
              <a:rPr sz="1400" b="1">
                <a:solidFill>
                  <a:srgbClr val="C0392B"/>
                </a:solidFill>
                <a:latin typeface="Calibri"/>
              </a:rPr>
              <a:t>8% – 15%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400" b="0">
                <a:solidFill>
                  <a:srgbClr val="444444"/>
                </a:solidFill>
                <a:latin typeface="Calibri"/>
              </a:rPr>
              <a:t>Of Product Value per Order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A91FE3-DF85-7A7C-2A01-C4AE042BFF91}"/>
              </a:ext>
            </a:extLst>
          </p:cNvPr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AD0E72A-1498-1A65-3C7D-516B13FD3715}"/>
              </a:ext>
            </a:extLst>
          </p:cNvPr>
          <p:cNvSpPr/>
          <p:nvPr/>
        </p:nvSpPr>
        <p:spPr>
          <a:xfrm>
            <a:off x="274320" y="2880360"/>
            <a:ext cx="3822191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C7745E-6238-C7D8-C365-440A299D8723}"/>
              </a:ext>
            </a:extLst>
          </p:cNvPr>
          <p:cNvSpPr/>
          <p:nvPr/>
        </p:nvSpPr>
        <p:spPr>
          <a:xfrm>
            <a:off x="274320" y="2880360"/>
            <a:ext cx="3822191" cy="164592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63D3B2-E7A6-C33E-18CA-3AE9AFF71557}"/>
              </a:ext>
            </a:extLst>
          </p:cNvPr>
          <p:cNvSpPr txBox="1"/>
          <p:nvPr/>
        </p:nvSpPr>
        <p:spPr>
          <a:xfrm>
            <a:off x="402336" y="3108960"/>
            <a:ext cx="3566160" cy="1526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sz="1100" b="1" dirty="0">
                <a:solidFill>
                  <a:srgbClr val="0058A3"/>
                </a:solidFill>
                <a:latin typeface="Calibri"/>
              </a:rPr>
              <a:t>DILEMMA 1: PAID MEDIA SATURATION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50" b="1" dirty="0">
                <a:solidFill>
                  <a:srgbClr val="1A1A1A"/>
                </a:solidFill>
                <a:latin typeface="Calibri"/>
              </a:rPr>
              <a:t>CAC Inflation &amp; Diminishing Returns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000" b="0" dirty="0">
                <a:solidFill>
                  <a:srgbClr val="444444"/>
                </a:solidFill>
                <a:latin typeface="Calibri"/>
              </a:rPr>
              <a:t>• Concentration Risk: 66.7% of media budget (₹130.9 Cr) locked in Meta &amp; Google Search.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000" b="0" dirty="0">
                <a:solidFill>
                  <a:srgbClr val="444444"/>
                </a:solidFill>
                <a:latin typeface="Calibri"/>
              </a:rPr>
              <a:t>• Diminishing Returns: Bidding wars on generic furniture keywords push mROAS down to 0.85x – 1.12x.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000" b="0" dirty="0">
                <a:solidFill>
                  <a:srgbClr val="444444"/>
                </a:solidFill>
                <a:latin typeface="Calibri"/>
              </a:rPr>
              <a:t>• Capital Burn: Scaling ad spend in saturated channels erodes margins without driving incremental volume.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A991BAA-8307-9BE8-F467-D6F48AB1E315}"/>
              </a:ext>
            </a:extLst>
          </p:cNvPr>
          <p:cNvSpPr/>
          <p:nvPr/>
        </p:nvSpPr>
        <p:spPr>
          <a:xfrm>
            <a:off x="4251959" y="2880360"/>
            <a:ext cx="3822191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B0F680-B306-C141-9480-4D330493B9E3}"/>
              </a:ext>
            </a:extLst>
          </p:cNvPr>
          <p:cNvSpPr/>
          <p:nvPr/>
        </p:nvSpPr>
        <p:spPr>
          <a:xfrm>
            <a:off x="4251959" y="2880360"/>
            <a:ext cx="3822191" cy="164592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33B27C-FD30-CD8B-3291-CE24217697E6}"/>
              </a:ext>
            </a:extLst>
          </p:cNvPr>
          <p:cNvSpPr txBox="1"/>
          <p:nvPr/>
        </p:nvSpPr>
        <p:spPr>
          <a:xfrm>
            <a:off x="4379975" y="3108960"/>
            <a:ext cx="3566160" cy="1526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sz="1100" b="1" dirty="0">
                <a:solidFill>
                  <a:srgbClr val="0058A3"/>
                </a:solidFill>
                <a:latin typeface="Calibri"/>
              </a:rPr>
              <a:t>DILEMMA 2: SMALL BASKET DEFICIT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50" b="1" dirty="0">
                <a:solidFill>
                  <a:srgbClr val="1A1A1A"/>
                </a:solidFill>
                <a:latin typeface="Calibri"/>
              </a:rPr>
              <a:t>Negative Last-Mile Delivery Economics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000" b="0" dirty="0">
                <a:solidFill>
                  <a:srgbClr val="444444"/>
                </a:solidFill>
                <a:latin typeface="Calibri"/>
              </a:rPr>
              <a:t>• Fragmented Carts: 35.7% of online purchases contain single low-ticket items (OFTAST ₹99, Candle ₹149).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000" b="0" dirty="0">
                <a:solidFill>
                  <a:srgbClr val="444444"/>
                </a:solidFill>
                <a:latin typeface="Calibri"/>
              </a:rPr>
              <a:t>• Freight Drag: Bulky parcel fulfilment costs 8% to 15% of product value across Indian metro nodes.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000" b="0" dirty="0">
                <a:solidFill>
                  <a:srgbClr val="444444"/>
                </a:solidFill>
                <a:latin typeface="Calibri"/>
              </a:rPr>
              <a:t>• Margin Deficit: Single-item online deliveries generate net losses without showroom impulse cross-sells.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98E65C0-4CB2-BE7E-76DA-5972146601C1}"/>
              </a:ext>
            </a:extLst>
          </p:cNvPr>
          <p:cNvSpPr/>
          <p:nvPr/>
        </p:nvSpPr>
        <p:spPr>
          <a:xfrm>
            <a:off x="8229600" y="2880360"/>
            <a:ext cx="3822191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2638BD-C3F0-4BE2-849A-CCA576F978E4}"/>
              </a:ext>
            </a:extLst>
          </p:cNvPr>
          <p:cNvSpPr/>
          <p:nvPr/>
        </p:nvSpPr>
        <p:spPr>
          <a:xfrm>
            <a:off x="8229600" y="2880360"/>
            <a:ext cx="3822191" cy="164592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BA68BF-1331-31FD-CE7D-4EBDFECAF80E}"/>
              </a:ext>
            </a:extLst>
          </p:cNvPr>
          <p:cNvSpPr txBox="1"/>
          <p:nvPr/>
        </p:nvSpPr>
        <p:spPr>
          <a:xfrm>
            <a:off x="8357616" y="3108960"/>
            <a:ext cx="3566160" cy="1526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sz="1100" b="1" dirty="0">
                <a:solidFill>
                  <a:srgbClr val="0058A3"/>
                </a:solidFill>
                <a:latin typeface="Calibri"/>
              </a:rPr>
              <a:t>DILEMMA 3: DIY CULTURAL RESISTANCE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50" b="1" dirty="0">
                <a:solidFill>
                  <a:srgbClr val="1A1A1A"/>
                </a:solidFill>
                <a:latin typeface="Calibri"/>
              </a:rPr>
              <a:t>Flatpack Friction in a Full-Service Market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000" b="0" dirty="0">
                <a:solidFill>
                  <a:srgbClr val="444444"/>
                </a:solidFill>
                <a:latin typeface="Calibri"/>
              </a:rPr>
              <a:t>• Entrenched Norms: 85%–90% of Indian furniture retail is unorganized, offering free carpenter assembly.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000" b="0" dirty="0">
                <a:solidFill>
                  <a:srgbClr val="444444"/>
                </a:solidFill>
                <a:latin typeface="Calibri"/>
              </a:rPr>
              <a:t>• Perception Barrier: Urban Indians view self-assembly manuals as unpaid </a:t>
            </a:r>
            <a:r>
              <a:rPr sz="1000" b="0" dirty="0" err="1">
                <a:solidFill>
                  <a:srgbClr val="444444"/>
                </a:solidFill>
                <a:latin typeface="Calibri"/>
              </a:rPr>
              <a:t>labour</a:t>
            </a:r>
            <a:r>
              <a:rPr sz="1000" b="0" dirty="0">
                <a:solidFill>
                  <a:srgbClr val="444444"/>
                </a:solidFill>
                <a:latin typeface="Calibri"/>
              </a:rPr>
              <a:t> rather than an enjoyable activity.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000" b="0" dirty="0">
                <a:solidFill>
                  <a:srgbClr val="444444"/>
                </a:solidFill>
                <a:latin typeface="Calibri"/>
              </a:rPr>
              <a:t>• Checkout Churn: Third-party assembly add-on fees (+5–15%) create checkout friction and cart abandonment.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09DCAE-9E5B-FB86-2DDC-A2C3978CD32A}"/>
              </a:ext>
            </a:extLst>
          </p:cNvPr>
          <p:cNvSpPr txBox="1"/>
          <p:nvPr/>
        </p:nvSpPr>
        <p:spPr>
          <a:xfrm>
            <a:off x="11612880" y="65653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58A3"/>
                </a:solidFill>
                <a:latin typeface="Calibri"/>
              </a:defRPr>
            </a:pPr>
            <a:r>
              <a:t>2</a:t>
            </a:r>
          </a:p>
        </p:txBody>
      </p:sp>
      <p:pic>
        <p:nvPicPr>
          <p:cNvPr id="2050" name="Picture 2" descr="Social Media Dissect | IKEA's “filmy billboards” smartly use Bollywood  references to localise their products for India. By pairing furniture names  with popular... | Instagram">
            <a:extLst>
              <a:ext uri="{FF2B5EF4-FFF2-40B4-BE49-F238E27FC236}">
                <a16:creationId xmlns:a16="http://schemas.microsoft.com/office/drawing/2014/main" id="{82CBA868-4966-5367-B6FD-5CC539FCD1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9" t="24004" r="5813" b="23489"/>
          <a:stretch>
            <a:fillRect/>
          </a:stretch>
        </p:blipFill>
        <p:spPr bwMode="auto">
          <a:xfrm>
            <a:off x="533890" y="4738391"/>
            <a:ext cx="3303049" cy="179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1B388D5-FD5F-CAD5-3C99-8D6B167B1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569" y="4738391"/>
            <a:ext cx="3202969" cy="17904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8705C80-0DD6-2895-8F14-08053BC01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826" y="4738391"/>
            <a:ext cx="3243738" cy="178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52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690D2A-EDF7-96A3-16FE-E76B9916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99AD64-6154-70E6-77B1-5685AF55929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D6287-5722-2C8F-FF34-6C2E85A9895E}"/>
              </a:ext>
            </a:extLst>
          </p:cNvPr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40DD4B-0C7D-D4D5-EDC3-C200B860BD73}"/>
              </a:ext>
            </a:extLst>
          </p:cNvPr>
          <p:cNvSpPr/>
          <p:nvPr/>
        </p:nvSpPr>
        <p:spPr>
          <a:xfrm>
            <a:off x="0" y="0"/>
            <a:ext cx="64008" cy="1188720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927869-8DE1-AFB7-26EC-ED583DE570D4}"/>
              </a:ext>
            </a:extLst>
          </p:cNvPr>
          <p:cNvSpPr txBox="1"/>
          <p:nvPr/>
        </p:nvSpPr>
        <p:spPr>
          <a:xfrm>
            <a:off x="274320" y="7315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DA00"/>
                </a:solidFill>
                <a:latin typeface="Calibri"/>
              </a:defRPr>
            </a:pPr>
            <a:r>
              <a:t>2. ANALYTICAL PILLAR 1 — MARKETING MIX MODELLING (PART 1 OF 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6B647-FEFC-B3DC-7F84-C9D3DBC902E1}"/>
              </a:ext>
            </a:extLst>
          </p:cNvPr>
          <p:cNvSpPr txBox="1"/>
          <p:nvPr/>
        </p:nvSpPr>
        <p:spPr>
          <a:xfrm>
            <a:off x="274320" y="329184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YouTube &amp; WhatsApp Dominate ROI — Redirect ₹7 Cr Away from Saturated Meta &amp; Search Channels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D2D93-0CF1-A67F-1699-977C0503672F}"/>
              </a:ext>
            </a:extLst>
          </p:cNvPr>
          <p:cNvSpPr txBox="1"/>
          <p:nvPr/>
        </p:nvSpPr>
        <p:spPr>
          <a:xfrm>
            <a:off x="274320" y="12070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104-week econometric formulation capturing memory carryover decay and diminishing returns via Ridge Regression.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CA7A7B-846C-CB50-9529-2ED65BD70332}"/>
              </a:ext>
            </a:extLst>
          </p:cNvPr>
          <p:cNvSpPr/>
          <p:nvPr/>
        </p:nvSpPr>
        <p:spPr>
          <a:xfrm>
            <a:off x="274320" y="1536192"/>
            <a:ext cx="4663440" cy="5193792"/>
          </a:xfrm>
          <a:prstGeom prst="roundRect">
            <a:avLst>
              <a:gd name="adj" fmla="val 3500"/>
            </a:avLst>
          </a:prstGeom>
          <a:solidFill>
            <a:srgbClr val="F5F5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0A0DC-4EA9-02BA-15F4-344D290957FD}"/>
              </a:ext>
            </a:extLst>
          </p:cNvPr>
          <p:cNvSpPr txBox="1"/>
          <p:nvPr/>
        </p:nvSpPr>
        <p:spPr>
          <a:xfrm>
            <a:off x="438911" y="1764792"/>
            <a:ext cx="4315968" cy="4088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58A3"/>
                </a:solidFill>
                <a:latin typeface="Calibri"/>
              </a:defRPr>
            </a:pPr>
            <a:r>
              <a:rPr lang="en-IN" sz="1200" b="1" dirty="0">
                <a:solidFill>
                  <a:srgbClr val="0058A3"/>
                </a:solidFill>
                <a:latin typeface="Calibri"/>
              </a:rPr>
              <a:t>ECONOMETRIC FORMULATION &amp; VALIDATION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850" b="0">
                <a:solidFill>
                  <a:srgbClr val="444444"/>
                </a:solidFill>
                <a:latin typeface="Calibri"/>
              </a:defRPr>
            </a:pPr>
            <a:r>
              <a:rPr lang="en-IN" sz="1200" b="0" dirty="0">
                <a:solidFill>
                  <a:srgbClr val="444444"/>
                </a:solidFill>
                <a:latin typeface="Calibri"/>
              </a:rPr>
              <a:t>Dataset: 104 weekly observations (FY23–FY24) tracking ₹196.3 Cr media spend across 5 channels, plus promotional discounts &amp; 18 festive shock weeks.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lang="en-IN" sz="1200" b="1" dirty="0">
                <a:solidFill>
                  <a:srgbClr val="0058A3"/>
                </a:solidFill>
                <a:latin typeface="Calibri"/>
              </a:rPr>
              <a:t>1. Adstock Carryover Decay (Consumer Memory </a:t>
            </a:r>
            <a:r>
              <a:rPr lang="el-GR" sz="1200" b="1" dirty="0">
                <a:solidFill>
                  <a:srgbClr val="0058A3"/>
                </a:solidFill>
                <a:latin typeface="Calibri"/>
              </a:rPr>
              <a:t>λ):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lang="el-GR" sz="1200" b="0" dirty="0">
                <a:solidFill>
                  <a:srgbClr val="444444"/>
                </a:solidFill>
                <a:latin typeface="Calibri"/>
              </a:rPr>
              <a:t>  • </a:t>
            </a:r>
            <a:r>
              <a:rPr lang="en-IN" sz="1200" b="0" dirty="0">
                <a:solidFill>
                  <a:srgbClr val="444444"/>
                </a:solidFill>
                <a:latin typeface="Calibri"/>
              </a:rPr>
              <a:t>YouTube &amp; Connected TV (</a:t>
            </a:r>
            <a:r>
              <a:rPr lang="el-GR" sz="1200" b="0" dirty="0">
                <a:solidFill>
                  <a:srgbClr val="444444"/>
                </a:solidFill>
                <a:latin typeface="Calibri"/>
              </a:rPr>
              <a:t>λ = 0.65): </a:t>
            </a:r>
            <a:r>
              <a:rPr lang="en-IN" sz="1200" b="0" dirty="0">
                <a:solidFill>
                  <a:srgbClr val="444444"/>
                </a:solidFill>
                <a:latin typeface="Calibri"/>
              </a:rPr>
              <a:t>High visual memory retention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lang="en-IN" sz="1200" b="0" dirty="0">
                <a:solidFill>
                  <a:srgbClr val="444444"/>
                </a:solidFill>
                <a:latin typeface="Calibri"/>
              </a:rPr>
              <a:t>  • Influencer &amp; Creator Affiliates (</a:t>
            </a:r>
            <a:r>
              <a:rPr lang="el-GR" sz="1200" b="0" dirty="0">
                <a:solidFill>
                  <a:srgbClr val="444444"/>
                </a:solidFill>
                <a:latin typeface="Calibri"/>
              </a:rPr>
              <a:t>λ = 0.50): </a:t>
            </a:r>
            <a:r>
              <a:rPr lang="en-IN" sz="1200" b="0" dirty="0">
                <a:solidFill>
                  <a:srgbClr val="444444"/>
                </a:solidFill>
                <a:latin typeface="Calibri"/>
              </a:rPr>
              <a:t>Sustained home-tour lifecycle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lang="en-IN" sz="1200" b="0" dirty="0">
                <a:solidFill>
                  <a:srgbClr val="444444"/>
                </a:solidFill>
                <a:latin typeface="Calibri"/>
              </a:rPr>
              <a:t>  • Meta Social IG/FB (</a:t>
            </a:r>
            <a:r>
              <a:rPr lang="el-GR" sz="1200" b="0" dirty="0">
                <a:solidFill>
                  <a:srgbClr val="444444"/>
                </a:solidFill>
                <a:latin typeface="Calibri"/>
              </a:rPr>
              <a:t>λ = 0.40): </a:t>
            </a:r>
            <a:r>
              <a:rPr lang="en-IN" sz="1200" b="0" dirty="0">
                <a:solidFill>
                  <a:srgbClr val="444444"/>
                </a:solidFill>
                <a:latin typeface="Calibri"/>
              </a:rPr>
              <a:t>Moderate feed discovery half-life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lang="en-IN" sz="1200" b="0" dirty="0">
                <a:solidFill>
                  <a:srgbClr val="444444"/>
                </a:solidFill>
                <a:latin typeface="Calibri"/>
              </a:rPr>
              <a:t>  • Google Paid Search (</a:t>
            </a:r>
            <a:r>
              <a:rPr lang="el-GR" sz="1200" b="0" dirty="0">
                <a:solidFill>
                  <a:srgbClr val="444444"/>
                </a:solidFill>
                <a:latin typeface="Calibri"/>
              </a:rPr>
              <a:t>λ = 0.30): </a:t>
            </a:r>
            <a:r>
              <a:rPr lang="en-IN" sz="1200" b="0" dirty="0">
                <a:solidFill>
                  <a:srgbClr val="444444"/>
                </a:solidFill>
                <a:latin typeface="Calibri"/>
              </a:rPr>
              <a:t>Rapid intent decay within 7–10 days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lang="en-IN" sz="1200" b="0" dirty="0">
                <a:solidFill>
                  <a:srgbClr val="444444"/>
                </a:solidFill>
                <a:latin typeface="Calibri"/>
              </a:rPr>
              <a:t>  • WhatsApp CRM Direct (</a:t>
            </a:r>
            <a:r>
              <a:rPr lang="el-GR" sz="1200" b="0" dirty="0">
                <a:solidFill>
                  <a:srgbClr val="444444"/>
                </a:solidFill>
                <a:latin typeface="Calibri"/>
              </a:rPr>
              <a:t>λ = 0.20): </a:t>
            </a:r>
            <a:r>
              <a:rPr lang="en-IN" sz="1200" b="0" dirty="0">
                <a:solidFill>
                  <a:srgbClr val="444444"/>
                </a:solidFill>
                <a:latin typeface="Calibri"/>
              </a:rPr>
              <a:t>Immediate 48-hr trigger action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lang="en-IN" sz="1200" b="1" dirty="0">
                <a:solidFill>
                  <a:srgbClr val="0058A3"/>
                </a:solidFill>
                <a:latin typeface="Calibri"/>
              </a:rPr>
              <a:t>2. Machine Learning Estimation: L2 Ridge Regression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lang="en-IN" sz="1200" b="0" dirty="0">
                <a:solidFill>
                  <a:srgbClr val="444444"/>
                </a:solidFill>
                <a:latin typeface="Calibri"/>
              </a:rPr>
              <a:t>• Why Not OLS? Collinearity during festive peaks (Diwali) caused OLS parameter instability and erratic weights.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lang="en-IN" sz="1200" b="0" dirty="0">
                <a:solidFill>
                  <a:srgbClr val="444444"/>
                </a:solidFill>
                <a:latin typeface="Calibri"/>
              </a:rPr>
              <a:t>• Regularization: Ridge regression with 5-fold cross-validation resolved collinearity and penalized redundant weights.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B68FD-C623-4D04-D7E0-0B821144EBC4}"/>
              </a:ext>
            </a:extLst>
          </p:cNvPr>
          <p:cNvSpPr txBox="1"/>
          <p:nvPr/>
        </p:nvSpPr>
        <p:spPr>
          <a:xfrm>
            <a:off x="530352" y="6035040"/>
            <a:ext cx="4133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900" b="1" dirty="0">
                <a:solidFill>
                  <a:srgbClr val="FFFFFF"/>
                </a:solidFill>
                <a:latin typeface="Calibri"/>
              </a:rPr>
              <a:t>Model Diagnostics: R² = 0.</a:t>
            </a:r>
            <a:r>
              <a:rPr lang="en-IN" sz="900" b="1" dirty="0">
                <a:solidFill>
                  <a:srgbClr val="FFFFFF"/>
                </a:solidFill>
                <a:latin typeface="Calibri"/>
              </a:rPr>
              <a:t>80</a:t>
            </a:r>
            <a:r>
              <a:rPr sz="900" b="1" dirty="0">
                <a:solidFill>
                  <a:srgbClr val="FFFFFF"/>
                </a:solidFill>
                <a:latin typeface="Calibri"/>
              </a:rPr>
              <a:t>71  |  Adj R² = 0.</a:t>
            </a:r>
            <a:r>
              <a:rPr lang="en-IN" sz="900" b="1" dirty="0">
                <a:solidFill>
                  <a:srgbClr val="FFFFFF"/>
                </a:solidFill>
                <a:latin typeface="Calibri"/>
              </a:rPr>
              <a:t>7823</a:t>
            </a:r>
            <a:r>
              <a:rPr sz="900" b="1" dirty="0">
                <a:solidFill>
                  <a:srgbClr val="FFFFFF"/>
                </a:solidFill>
                <a:latin typeface="Calibri"/>
              </a:rPr>
              <a:t>  |  MAPE = 1.75%  |  Optimal α = 0.0518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377EF9-3ED2-D148-9E1F-8682C9877B8A}"/>
              </a:ext>
            </a:extLst>
          </p:cNvPr>
          <p:cNvSpPr txBox="1"/>
          <p:nvPr/>
        </p:nvSpPr>
        <p:spPr>
          <a:xfrm>
            <a:off x="11612880" y="65653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58A3"/>
                </a:solidFill>
                <a:latin typeface="Calibri"/>
              </a:defRPr>
            </a:pPr>
            <a:r>
              <a:t>3</a:t>
            </a:r>
          </a:p>
        </p:txBody>
      </p:sp>
      <p:pic>
        <p:nvPicPr>
          <p:cNvPr id="15" name="Picture 14" descr="A graph of a function">
            <a:extLst>
              <a:ext uri="{FF2B5EF4-FFF2-40B4-BE49-F238E27FC236}">
                <a16:creationId xmlns:a16="http://schemas.microsoft.com/office/drawing/2014/main" id="{3E3D7089-989E-D5EC-AEBB-F65F0C2EFC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36192"/>
            <a:ext cx="6793992" cy="519379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904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188720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DA00"/>
                </a:solidFill>
                <a:latin typeface="Calibri"/>
              </a:defRPr>
            </a:pPr>
            <a:r>
              <a:t>2. ANALYTICAL PILLAR 1 — MARKETING MIX MODELLING (PART 2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9184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Budget-Neutral ₹7 Cr Reallocation Unlocks +₹14.99 Cr Net Revenue at Zero Incremental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Shifting ₹7.0 Crore away from saturated channels into high-mROAS drivers at strictly ₹196.3 Cr neutral budget.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36192"/>
            <a:ext cx="4507992" cy="51937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71231" y="1664208"/>
            <a:ext cx="4178808" cy="364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800"/>
              </a:spcAft>
              <a:defRPr sz="1000" b="1">
                <a:solidFill>
                  <a:srgbClr val="0058A3"/>
                </a:solidFill>
                <a:latin typeface="Calibri"/>
              </a:defRPr>
            </a:pPr>
            <a:r>
              <a:rPr sz="1200" b="1" dirty="0">
                <a:solidFill>
                  <a:srgbClr val="0058A3"/>
                </a:solidFill>
                <a:latin typeface="Calibri"/>
              </a:rPr>
              <a:t>BOARD CAPITAL REALLOCATION DIRECTIVES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rPr sz="1200" b="1" dirty="0">
                <a:solidFill>
                  <a:srgbClr val="C0392B"/>
                </a:solidFill>
                <a:latin typeface="Calibri"/>
              </a:rPr>
              <a:t>1. Trimming Saturated Inventory  (–₹7.00 Cr):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200" b="0" dirty="0">
                <a:solidFill>
                  <a:srgbClr val="444444"/>
                </a:solidFill>
                <a:latin typeface="Calibri"/>
              </a:rPr>
              <a:t>• Cut Meta Social by ₹5.0 Cr (mROAS = 0.85x): Scaling back saturated retargeting carousel frequency eliminates value destruction.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200" b="0" dirty="0">
                <a:solidFill>
                  <a:srgbClr val="444444"/>
                </a:solidFill>
                <a:latin typeface="Calibri"/>
              </a:rPr>
              <a:t>• Cut Google Paid Search by ₹2.0 Cr (mROAS = 1.12x): Eliminating costly non-brand generic keywords prevents bid inflation.</a:t>
            </a:r>
          </a:p>
          <a:p>
            <a:pPr algn="just">
              <a:spcBef>
                <a:spcPts val="600"/>
              </a:spcBef>
              <a:spcAft>
                <a:spcPts val="300"/>
              </a:spcAft>
              <a:defRPr sz="900" b="1">
                <a:solidFill>
                  <a:srgbClr val="1A7A4A"/>
                </a:solidFill>
                <a:latin typeface="Calibri"/>
              </a:defRPr>
            </a:pPr>
            <a:r>
              <a:rPr sz="1200" b="1" dirty="0">
                <a:solidFill>
                  <a:srgbClr val="1A7A4A"/>
                </a:solidFill>
                <a:latin typeface="Calibri"/>
              </a:rPr>
              <a:t>2. Reinvesting in High-mROAS Drivers  (+₹7.00 Cr):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200" b="0" dirty="0">
                <a:solidFill>
                  <a:srgbClr val="444444"/>
                </a:solidFill>
                <a:latin typeface="Calibri"/>
              </a:rPr>
              <a:t>• Reallocate ₹3.0 Cr to WhatsApp CRM (mROAS = 4.15x): Deploy automated high-intent cart abandonment triggers within 4 hours.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200" b="0" dirty="0">
                <a:solidFill>
                  <a:srgbClr val="444444"/>
                </a:solidFill>
                <a:latin typeface="Calibri"/>
              </a:rPr>
              <a:t>• Reallocate ₹2.5 Cr to YouTube &amp; CTV (mROAS = 2.35x): Drive inspirational home-makeover storytelling and brand consideration.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200" b="0" dirty="0">
                <a:solidFill>
                  <a:srgbClr val="444444"/>
                </a:solidFill>
                <a:latin typeface="Calibri"/>
              </a:rPr>
              <a:t>• Reallocate ₹1.5 Cr to Influencer Affiliates (mROAS = 2.10x): Partner with interior design creators for authentic social styling.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231" y="5440680"/>
            <a:ext cx="4178808" cy="1170432"/>
          </a:xfrm>
          <a:prstGeom prst="roundRect">
            <a:avLst>
              <a:gd name="adj" fmla="val 4000"/>
            </a:avLst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5504688"/>
            <a:ext cx="3959352" cy="1079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300"/>
              </a:spcAft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200" b="1" dirty="0">
                <a:solidFill>
                  <a:srgbClr val="1A1A1A"/>
                </a:solidFill>
                <a:latin typeface="Calibri"/>
              </a:rPr>
              <a:t>EXECUTIVE FINANCIAL RESULT</a:t>
            </a:r>
          </a:p>
          <a:p>
            <a:pPr algn="just">
              <a:spcBef>
                <a:spcPts val="0"/>
              </a:spcBef>
              <a:spcAft>
                <a:spcPts val="100"/>
              </a:spcAft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200" b="1" dirty="0">
                <a:solidFill>
                  <a:srgbClr val="1A1A1A"/>
                </a:solidFill>
                <a:latin typeface="Calibri"/>
              </a:rPr>
              <a:t>Net Incremental Media Revenue:  +₹14.99 Crore</a:t>
            </a:r>
          </a:p>
          <a:p>
            <a:pPr algn="just">
              <a:spcBef>
                <a:spcPts val="0"/>
              </a:spcBef>
              <a:spcAft>
                <a:spcPts val="100"/>
              </a:spcAft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200" b="1" dirty="0">
                <a:solidFill>
                  <a:srgbClr val="1A1A1A"/>
                </a:solidFill>
                <a:latin typeface="Calibri"/>
              </a:rPr>
              <a:t>Relative Media Revenue Lift:  +13.5% Expansion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200" b="1" dirty="0">
                <a:solidFill>
                  <a:srgbClr val="1A1A1A"/>
                </a:solidFill>
                <a:latin typeface="Calibri"/>
              </a:rPr>
              <a:t>Additional Budget Required:  ₹0.00  (Strictly ₹196.3 Cr Neutral)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65392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88888"/>
                </a:solidFill>
                <a:latin typeface="Calibri"/>
              </a:defRPr>
            </a:pPr>
            <a:r>
              <a:t>IKEA India  |  Marketing Analytics  |  Mohd Ather Rahim  |  25221125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653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58A3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15" name="Picture 14" descr="slide4_mmm_reallocation.png">
            <a:extLst>
              <a:ext uri="{FF2B5EF4-FFF2-40B4-BE49-F238E27FC236}">
                <a16:creationId xmlns:a16="http://schemas.microsoft.com/office/drawing/2014/main" id="{2CCC9D3C-11B8-1CF1-1045-B3D1507B3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36192"/>
            <a:ext cx="6949440" cy="519379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188720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DA00"/>
                </a:solidFill>
                <a:latin typeface="Calibri"/>
              </a:defRPr>
            </a:pPr>
            <a:r>
              <a:t>3. ANALYTICAL PILLAR 2 — MARKET BASKET ANALYSIS (PART 1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9184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Apriori Mining Reveals 22 High-Lift Bundle Opportunities — Indian Shoppers Buy in Room Ecosystems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Mining 2,489 retail transaction lines across 1,222 carts reveals high-affinity modular product pairings.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36192"/>
            <a:ext cx="4507992" cy="51937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71231" y="1664208"/>
            <a:ext cx="4178808" cy="408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58A3"/>
                </a:solidFill>
                <a:latin typeface="Calibri"/>
              </a:defRPr>
            </a:pPr>
            <a:r>
              <a:rPr sz="1150" b="1" dirty="0">
                <a:solidFill>
                  <a:srgbClr val="0058A3"/>
                </a:solidFill>
                <a:latin typeface="Calibri"/>
              </a:rPr>
              <a:t>APRIORI RULES &amp; RETAIL AFFINITIES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sz="1150" b="1" dirty="0">
                <a:solidFill>
                  <a:srgbClr val="0058A3"/>
                </a:solidFill>
                <a:latin typeface="Calibri"/>
              </a:rPr>
              <a:t>Two-Stage Filtering Architecture: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150" b="0" dirty="0">
                <a:solidFill>
                  <a:srgbClr val="444444"/>
                </a:solidFill>
                <a:latin typeface="Calibri"/>
              </a:rPr>
              <a:t>• Stage 1 (Min Support ≥ 10.0%): Evaluated 13 core SKUs. All 13 passed (Support 11.8%–22.3%). Anchor items: Study Desk (22.3%), Wing Chair (19.6%), KALLAX Shelving (19.5%).</a:t>
            </a:r>
          </a:p>
          <a:p>
            <a:pPr algn="just">
              <a:spcBef>
                <a:spcPts val="0"/>
              </a:spcBef>
              <a:spcAft>
                <a:spcPts val="800"/>
              </a:spcAft>
              <a:defRPr sz="800" b="0">
                <a:solidFill>
                  <a:srgbClr val="444444"/>
                </a:solidFill>
                <a:latin typeface="Calibri"/>
              </a:defRPr>
            </a:pPr>
            <a:r>
              <a:rPr sz="1150" b="0" dirty="0">
                <a:solidFill>
                  <a:srgbClr val="444444"/>
                </a:solidFill>
                <a:latin typeface="Calibri"/>
              </a:rPr>
              <a:t>• Stage 2 (Frequent Pairs): Generated 11 candidate item pairs passing 10% joint support, deriving 22 high-lift association rules (Confidence ≥ 25%, Lift ≥ 1.20).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1A7A4A"/>
                </a:solidFill>
                <a:latin typeface="Calibri"/>
              </a:defRPr>
            </a:pPr>
            <a:r>
              <a:rPr sz="1150" b="1" dirty="0">
                <a:solidFill>
                  <a:srgbClr val="1A7A4A"/>
                </a:solidFill>
                <a:latin typeface="Calibri"/>
              </a:rPr>
              <a:t>Top High-Lift Retail Clusters: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150" b="0" dirty="0">
                <a:solidFill>
                  <a:srgbClr val="444444"/>
                </a:solidFill>
                <a:latin typeface="Calibri"/>
              </a:rPr>
              <a:t>• </a:t>
            </a:r>
            <a:r>
              <a:rPr sz="1150" b="1" dirty="0">
                <a:solidFill>
                  <a:srgbClr val="444444"/>
                </a:solidFill>
                <a:latin typeface="Calibri"/>
              </a:rPr>
              <a:t>Home Workspace Cluster</a:t>
            </a:r>
            <a:r>
              <a:rPr sz="1150" b="0" dirty="0">
                <a:solidFill>
                  <a:srgbClr val="444444"/>
                </a:solidFill>
                <a:latin typeface="Calibri"/>
              </a:rPr>
              <a:t> (Lift = 4.48x–6.75x): Study Desk + Swivel Chair + Cable </a:t>
            </a:r>
            <a:r>
              <a:rPr sz="1150" b="0" dirty="0" err="1">
                <a:solidFill>
                  <a:srgbClr val="444444"/>
                </a:solidFill>
                <a:latin typeface="Calibri"/>
              </a:rPr>
              <a:t>Trunking</a:t>
            </a:r>
            <a:r>
              <a:rPr sz="1150" b="0" dirty="0">
                <a:solidFill>
                  <a:srgbClr val="444444"/>
                </a:solidFill>
                <a:latin typeface="Calibri"/>
              </a:rPr>
              <a:t> (100% Conf). Customers never buy a desk in isolation without seating &amp; wire management.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150" b="0" dirty="0">
                <a:solidFill>
                  <a:srgbClr val="444444"/>
                </a:solidFill>
                <a:latin typeface="Calibri"/>
              </a:rPr>
              <a:t>• </a:t>
            </a:r>
            <a:r>
              <a:rPr sz="1150" b="1" dirty="0">
                <a:solidFill>
                  <a:srgbClr val="444444"/>
                </a:solidFill>
                <a:latin typeface="Calibri"/>
              </a:rPr>
              <a:t>Living Accent Cluster</a:t>
            </a:r>
            <a:r>
              <a:rPr sz="1150" b="0" dirty="0">
                <a:solidFill>
                  <a:srgbClr val="444444"/>
                </a:solidFill>
                <a:latin typeface="Calibri"/>
              </a:rPr>
              <a:t> (Lift = 8.15x): GLADOM Metal Tray Table ↔ SANELA Velvet Cushion (100% Conf). Aesthetic cross-room pairing.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150" b="0" dirty="0">
                <a:solidFill>
                  <a:srgbClr val="444444"/>
                </a:solidFill>
                <a:latin typeface="Calibri"/>
              </a:rPr>
              <a:t>• </a:t>
            </a:r>
            <a:r>
              <a:rPr sz="1150" b="1" dirty="0">
                <a:solidFill>
                  <a:srgbClr val="444444"/>
                </a:solidFill>
                <a:latin typeface="Calibri"/>
              </a:rPr>
              <a:t>Modular Storage</a:t>
            </a:r>
            <a:r>
              <a:rPr sz="1150" b="0" dirty="0">
                <a:solidFill>
                  <a:srgbClr val="444444"/>
                </a:solidFill>
                <a:latin typeface="Calibri"/>
              </a:rPr>
              <a:t> (Lift = 5.13x): KALLAX Shelving Unit ↔ DRÖNA Fabric Storage Box (60.5% Conf). Natural modular add-on.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1150" b="0" dirty="0">
                <a:solidFill>
                  <a:srgbClr val="444444"/>
                </a:solidFill>
                <a:latin typeface="Calibri"/>
              </a:rPr>
              <a:t>• </a:t>
            </a:r>
            <a:r>
              <a:rPr sz="1150" b="1" dirty="0">
                <a:solidFill>
                  <a:srgbClr val="444444"/>
                </a:solidFill>
                <a:latin typeface="Calibri"/>
              </a:rPr>
              <a:t>Tableware &amp; Impulse Decor</a:t>
            </a:r>
            <a:r>
              <a:rPr sz="1150" b="0" dirty="0">
                <a:solidFill>
                  <a:srgbClr val="444444"/>
                </a:solidFill>
                <a:latin typeface="Calibri"/>
              </a:rPr>
              <a:t> (Lift = 8.15x): OFTAST White Plate ↔ SINNLIG Scented Candle (100% Conf). High-frequency cart fillers.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231" y="5806440"/>
            <a:ext cx="4178808" cy="804672"/>
          </a:xfrm>
          <a:prstGeom prst="roundRect">
            <a:avLst>
              <a:gd name="adj" fmla="val 4000"/>
            </a:avLst>
          </a:prstGeom>
          <a:solidFill>
            <a:srgbClr val="FFF9B3"/>
          </a:solidFill>
          <a:ln w="19050">
            <a:solidFill>
              <a:srgbClr val="FFD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53528" y="5915313"/>
            <a:ext cx="3959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200" b="1" dirty="0">
                <a:solidFill>
                  <a:srgbClr val="1A1A1A"/>
                </a:solidFill>
                <a:latin typeface="Calibri"/>
              </a:rPr>
              <a:t>Core Takeaway: Indian shoppers naturally assemble room ecosystems, but our digital checkout presents items in silos.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65392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88888"/>
                </a:solidFill>
                <a:latin typeface="Calibri"/>
              </a:defRPr>
            </a:pPr>
            <a:r>
              <a:t>IKEA India  |  Marketing Analytics  |  Mohd Ather Rahim  |  25221125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653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58A3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15" name="Picture 14" descr="slide5_apriori_rules.png">
            <a:extLst>
              <a:ext uri="{FF2B5EF4-FFF2-40B4-BE49-F238E27FC236}">
                <a16:creationId xmlns:a16="http://schemas.microsoft.com/office/drawing/2014/main" id="{6501F01A-B13D-E3CE-7097-34A578526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36192"/>
            <a:ext cx="6949440" cy="519379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188720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DA00"/>
                </a:solidFill>
                <a:latin typeface="Calibri"/>
              </a:defRPr>
            </a:pPr>
            <a:r>
              <a:t>3. ANALYTICAL PILLAR 2 — MARKET BASKET ANALYSIS (PART 2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9184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Pre-Packaged Room Suites Expand AOV +21% While Eliminating Last-Mile Freight Losses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Automated cross-sell drawers and pre-packaged room suites expand online AOV from ₹4,200 to ₹5,100+.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36192"/>
            <a:ext cx="4507992" cy="51937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88888"/>
                </a:solidFill>
                <a:latin typeface="Calibri"/>
              </a:defRPr>
            </a:pPr>
            <a:r>
              <a:t>IKEA India  |  Marketing Analytics  |  Mohd Ather Rahim  |  25221125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5653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58A3"/>
                </a:solidFill>
                <a:latin typeface="Calibri"/>
              </a:defRPr>
            </a:pPr>
            <a:r>
              <a:t>6</a:t>
            </a:r>
          </a:p>
        </p:txBody>
      </p:sp>
      <p:pic>
        <p:nvPicPr>
          <p:cNvPr id="13" name="Picture 12" descr="slide6_basket_economics.png">
            <a:extLst>
              <a:ext uri="{FF2B5EF4-FFF2-40B4-BE49-F238E27FC236}">
                <a16:creationId xmlns:a16="http://schemas.microsoft.com/office/drawing/2014/main" id="{61D50686-5FBC-4B77-2289-7C86AC397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36192"/>
            <a:ext cx="6949440" cy="519379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0477F5-628F-4112-57A9-300E1A747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412" y="1633833"/>
            <a:ext cx="1874518" cy="17008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1382B8-AC0F-8755-63EF-128B7CC71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292" y="3847845"/>
            <a:ext cx="1874518" cy="17926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0E1003-5A37-6BC5-B062-B690E39EF42A}"/>
              </a:ext>
            </a:extLst>
          </p:cNvPr>
          <p:cNvSpPr txBox="1"/>
          <p:nvPr/>
        </p:nvSpPr>
        <p:spPr>
          <a:xfrm>
            <a:off x="9445850" y="2040775"/>
            <a:ext cx="2373960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lang="en-IN" sz="1600" u="sng" dirty="0"/>
              <a:t>IN-CART DYNAMIC DRAWERS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lang="en-IN" sz="1600" b="1" dirty="0">
                <a:solidFill>
                  <a:srgbClr val="0058A3"/>
                </a:solidFill>
                <a:latin typeface="Calibri"/>
              </a:rPr>
              <a:t>SHELVING + FABRIC BOXES SET OF 4</a:t>
            </a:r>
            <a:endParaRPr sz="1200" b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C470EE-1994-F3E6-4A8D-4825EF9B0C66}"/>
              </a:ext>
            </a:extLst>
          </p:cNvPr>
          <p:cNvSpPr txBox="1"/>
          <p:nvPr/>
        </p:nvSpPr>
        <p:spPr>
          <a:xfrm>
            <a:off x="9592652" y="5725872"/>
            <a:ext cx="2504860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lang="en-IN" sz="1600" b="1" u="sng" dirty="0">
                <a:solidFill>
                  <a:srgbClr val="0058A3"/>
                </a:solidFill>
                <a:latin typeface="Calibri"/>
              </a:rPr>
              <a:t>HOME OFFICE PACKAGE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lang="en-IN" sz="1600" b="1" dirty="0">
                <a:solidFill>
                  <a:srgbClr val="0058A3"/>
                </a:solidFill>
                <a:latin typeface="Calibri"/>
              </a:rPr>
              <a:t>CHAIR + DESK + CABLE TRUNK</a:t>
            </a:r>
            <a:endParaRPr sz="1200" b="0" dirty="0">
              <a:solidFill>
                <a:srgbClr val="444444"/>
              </a:solidFill>
              <a:latin typeface="Calibr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C2E20D-EFC5-2A54-C5B6-87B3AB0B0A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068" y="3819531"/>
            <a:ext cx="1899862" cy="17926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FFE18A1-5AFE-DB85-3823-4E4516CDEEDF}"/>
              </a:ext>
            </a:extLst>
          </p:cNvPr>
          <p:cNvSpPr txBox="1"/>
          <p:nvPr/>
        </p:nvSpPr>
        <p:spPr>
          <a:xfrm>
            <a:off x="7292241" y="5741548"/>
            <a:ext cx="2504860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lang="en-IN" sz="1600" b="1" u="sng" dirty="0">
                <a:solidFill>
                  <a:srgbClr val="0058A3"/>
                </a:solidFill>
                <a:latin typeface="Calibri"/>
              </a:rPr>
              <a:t>LIVING ROOM PACKAGE 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lang="en-IN" sz="1600" b="1" dirty="0">
                <a:solidFill>
                  <a:srgbClr val="0058A3"/>
                </a:solidFill>
                <a:latin typeface="Calibri"/>
              </a:rPr>
              <a:t>WING CHAIR + COFFEE TABLE + CUSHION</a:t>
            </a:r>
            <a:endParaRPr sz="1200" b="0" dirty="0">
              <a:solidFill>
                <a:srgbClr val="444444"/>
              </a:solidFill>
              <a:latin typeface="Calibri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9973CB9-996C-99C8-CB1D-6D43E98FBB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0103" y="5311386"/>
            <a:ext cx="1541459" cy="1296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188720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DA00"/>
                </a:solidFill>
                <a:latin typeface="Calibri"/>
              </a:defRPr>
            </a:pPr>
            <a:r>
              <a:t>4. ANALYTICAL PILLAR 3 — STRATEGIC PERCEPTUAL MAPPING (PART 1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9184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IKEA Holds the Highest Design Score Yet Suffers the Greatest Assembly Friction — A Strategic Paradox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11612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rPr sz="1200" dirty="0"/>
              <a:t>Construct-Level PCA across 450 metro consumers maps IKEA against Urban Ladder, Home Centre, and Pepperfry.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36192"/>
            <a:ext cx="4507992" cy="519379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71231" y="1664208"/>
            <a:ext cx="4178808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58A3"/>
                </a:solidFill>
                <a:latin typeface="Calibri"/>
              </a:defRPr>
            </a:pPr>
            <a:r>
              <a:rPr sz="950" b="1" dirty="0">
                <a:solidFill>
                  <a:srgbClr val="0058A3"/>
                </a:solidFill>
                <a:latin typeface="Calibri"/>
              </a:rPr>
              <a:t>SURVEY DESIGN &amp; PCA CONSTRUCT DECOMPOSITION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defRPr sz="819" b="0">
                <a:solidFill>
                  <a:srgbClr val="444444"/>
                </a:solidFill>
                <a:latin typeface="Calibri"/>
              </a:defRPr>
            </a:pPr>
            <a:r>
              <a:rPr sz="950" b="0" dirty="0">
                <a:solidFill>
                  <a:srgbClr val="444444"/>
                </a:solidFill>
                <a:latin typeface="Calibri"/>
              </a:rPr>
              <a:t>Survey Methodology: N = 450 verified urban furniture shoppers across Mumbai, Bengaluru, Delhi-NCR, Hyderabad, and Pune (7-point Likert scales).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0058A3"/>
                </a:solidFill>
                <a:latin typeface="Calibri"/>
              </a:defRPr>
            </a:pPr>
            <a:r>
              <a:rPr sz="950" b="1" dirty="0">
                <a:solidFill>
                  <a:srgbClr val="0058A3"/>
                </a:solidFill>
                <a:latin typeface="Calibri"/>
              </a:rPr>
              <a:t>Spatial Axes &amp; Variance Decomposition: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950" b="0" dirty="0">
                <a:solidFill>
                  <a:srgbClr val="444444"/>
                </a:solidFill>
                <a:latin typeface="Calibri"/>
              </a:rPr>
              <a:t>• X-Axis (PCA Component 1: 54.3% Variance): Fulfilment &amp; Service Delivery Model. Spans from -2.50 (Complex Self-Assembly DIY Friction) to +2.50 (Full Turnkey Doorstep Carpenter Assembly).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950" b="0" dirty="0">
                <a:solidFill>
                  <a:srgbClr val="444444"/>
                </a:solidFill>
                <a:latin typeface="Calibri"/>
              </a:rPr>
              <a:t>• Y-Axis (Financial Scale): Price Tier &amp; Commercial Value Proposition. Spans from 1.50 (Mass Economy) to 6.50 (Premium Luxury). Midpoint = 3.75.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  <a:defRPr sz="780" b="0">
                <a:solidFill>
                  <a:srgbClr val="444444"/>
                </a:solidFill>
                <a:latin typeface="Calibri"/>
              </a:defRPr>
            </a:pPr>
            <a:r>
              <a:rPr sz="950" b="0" dirty="0">
                <a:solidFill>
                  <a:srgbClr val="444444"/>
                </a:solidFill>
                <a:latin typeface="Calibri"/>
              </a:rPr>
              <a:t>• Bubble Diameter: Design Modernity &amp; Aesthetic Sleekness (1–7 scale). Measures contemporary Scandinavian minimalism.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88888"/>
                </a:solidFill>
                <a:latin typeface="Calibri"/>
              </a:defRPr>
            </a:pPr>
            <a:r>
              <a:t>IKEA India  |  Marketing Analytics  |  Mohd Ather Rahim  |  25221125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5653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58A3"/>
                </a:solidFill>
                <a:latin typeface="Calibri"/>
              </a:defRPr>
            </a:pPr>
            <a:r>
              <a:t>7</a:t>
            </a:r>
          </a:p>
        </p:txBody>
      </p:sp>
      <p:pic>
        <p:nvPicPr>
          <p:cNvPr id="13" name="Picture 12" descr="slide7_perceptual_map.png">
            <a:extLst>
              <a:ext uri="{FF2B5EF4-FFF2-40B4-BE49-F238E27FC236}">
                <a16:creationId xmlns:a16="http://schemas.microsoft.com/office/drawing/2014/main" id="{16ED9F5D-7B2B-B09B-7B83-D420402F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36192"/>
            <a:ext cx="6949440" cy="51937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E622C0-7194-575E-CA8F-2241F4ED9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971" y="3686163"/>
            <a:ext cx="4033076" cy="29384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345" y="-54864"/>
            <a:ext cx="12191695" cy="6912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188720"/>
          </a:xfrm>
          <a:prstGeom prst="rect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2119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DA00"/>
                </a:solidFill>
                <a:latin typeface="Calibri"/>
              </a:defRPr>
            </a:pPr>
            <a:r>
              <a:rPr dirty="0"/>
              <a:t>5. EXECUTIVE </a:t>
            </a:r>
            <a:r>
              <a:rPr lang="en-IN" dirty="0"/>
              <a:t> </a:t>
            </a:r>
            <a:r>
              <a:rPr dirty="0"/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9184"/>
            <a:ext cx="11612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Board Resolution: Approve ₹7 Cr Capital Reallocation and </a:t>
            </a:r>
            <a:r>
              <a:rPr lang="en-IN" dirty="0"/>
              <a:t>Plan</a:t>
            </a:r>
            <a:r>
              <a:rPr dirty="0"/>
              <a:t> Turnkey Assembly Pilot Immediately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11612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rPr sz="1200" dirty="0"/>
              <a:t>Real-time Power BI governance tracking MMM reallocation, Apriori basket expansion, and turnkey repositioning.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65653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58A3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35" name="Picture 34" descr="powerbi_dashboard_hd.png">
            <a:extLst>
              <a:ext uri="{FF2B5EF4-FFF2-40B4-BE49-F238E27FC236}">
                <a16:creationId xmlns:a16="http://schemas.microsoft.com/office/drawing/2014/main" id="{B79A0158-1D4B-BA50-74D8-39641AB516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2" t="2451" r="3286" b="2880"/>
          <a:stretch>
            <a:fillRect/>
          </a:stretch>
        </p:blipFill>
        <p:spPr>
          <a:xfrm>
            <a:off x="835380" y="1517904"/>
            <a:ext cx="10490759" cy="522427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KALLAX - Organise your living room">
            <a:hlinkClick r:id="" action="ppaction://media"/>
            <a:extLst>
              <a:ext uri="{FF2B5EF4-FFF2-40B4-BE49-F238E27FC236}">
                <a16:creationId xmlns:a16="http://schemas.microsoft.com/office/drawing/2014/main" id="{A1CE8418-CB08-B5A7-D439-453B30A61EC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60210" y="1230313"/>
            <a:ext cx="9873500" cy="55785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60FA822-CB24-F87B-E8E7-087D75B29FE2}"/>
              </a:ext>
            </a:extLst>
          </p:cNvPr>
          <p:cNvSpPr/>
          <p:nvPr/>
        </p:nvSpPr>
        <p:spPr>
          <a:xfrm>
            <a:off x="4409408" y="155309"/>
            <a:ext cx="36307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THANK YOU</a:t>
            </a:r>
            <a:endParaRPr lang="en-US" sz="5400" b="1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5199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1480</Words>
  <Application>Microsoft Office PowerPoint</Application>
  <PresentationFormat>Widescreen</PresentationFormat>
  <Paragraphs>119</Paragraphs>
  <Slides>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Mairajuddin Uddin</dc:creator>
  <cp:keywords/>
  <dc:description>generated using python-pptx</dc:description>
  <cp:lastModifiedBy>Mairajuddin Uddin</cp:lastModifiedBy>
  <cp:revision>28</cp:revision>
  <dcterms:created xsi:type="dcterms:W3CDTF">2013-01-27T09:14:16Z</dcterms:created>
  <dcterms:modified xsi:type="dcterms:W3CDTF">2026-10-15T13:43:22Z</dcterms:modified>
  <cp:category/>
</cp:coreProperties>
</file>